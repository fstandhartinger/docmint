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8132E83-05EC-4436-B954-15901B6ACB8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Notes"/>
          <p:cNvSpPr txBox="1"/>
          <p:nvPr/>
        </p:nvSpPr>
        <p:spPr>
          <a:xfrm>
            <a:off x="720000" y="3600000"/>
            <a:ext cx="576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{title} — {presenter}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{opening_note}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corecardNotes"/>
          <p:cNvSpPr txBox="1"/>
          <p:nvPr/>
        </p:nvSpPr>
        <p:spPr>
          <a:xfrm>
            <a:off x="720000" y="3600000"/>
            <a:ext cx="576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{table_title}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{scorecard_note}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gionNotes"/>
          <p:cNvSpPr txBox="1"/>
          <p:nvPr/>
        </p:nvSpPr>
        <p:spPr>
          <a:xfrm>
            <a:off x="720000" y="3600000"/>
            <a:ext cx="576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{name} — {lead}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{notes}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Ask the room: {question}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losingNotes"/>
          <p:cNvSpPr txBox="1"/>
          <p:nvPr/>
        </p:nvSpPr>
        <p:spPr>
          <a:xfrm>
            <a:off x="720000" y="3600000"/>
            <a:ext cx="576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{closing_title}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1b2a38"/>
                </a:solidFill>
                <a:latin typeface="Calibri"/>
              </a:rPr>
              <a:t>{closing_note}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61E89-6EA8-4158-AB85-4E0417B2D2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F223F6-662F-4B31-BB8F-F0E3634D1A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4F519-0D6A-4269-AA9C-391851C727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268F04-54DC-4122-A347-3CC7B7C249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5387F6-47D4-4E11-8787-89931C6B21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61766-A3DE-4413-BB30-48FD039545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05B75F-2BCA-4B3F-9E20-73D8466701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849CE2-AB31-4406-A958-A9CC6024FF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4A9C9-3CF4-4647-ABD1-189B379FBE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41CC7-6BB6-42D4-9491-AB8954D36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C299C-A721-4D15-9CE1-2E319AB777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56D3FF-6B12-4618-9D62-146C71823A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73F9B62-9CF1-43CC-A7AD-64AF9CF88FB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ogo tile"/>
          <p:cNvSpPr/>
          <p:nvPr/>
        </p:nvSpPr>
        <p:spPr>
          <a:xfrm>
            <a:off x="648000" y="486000"/>
            <a:ext cx="1116000" cy="111600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Logo"/>
          <p:cNvSpPr txBox="1"/>
          <p:nvPr/>
        </p:nvSpPr>
        <p:spPr>
          <a:xfrm>
            <a:off x="820800" y="648000"/>
            <a:ext cx="792000" cy="7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{%logo}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itle"/>
          <p:cNvSpPr txBox="1"/>
          <p:nvPr/>
        </p:nvSpPr>
        <p:spPr>
          <a:xfrm>
            <a:off x="648000" y="2052000"/>
            <a:ext cx="84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200" spc="-1" strike="noStrike">
                <a:solidFill>
                  <a:srgbClr val="ffffff"/>
                </a:solidFill>
                <a:latin typeface="Cambria"/>
              </a:rPr>
              <a:t>{title}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ubtitle"/>
          <p:cNvSpPr txBox="1"/>
          <p:nvPr/>
        </p:nvSpPr>
        <p:spPr>
          <a:xfrm>
            <a:off x="648000" y="2934000"/>
            <a:ext cx="77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8000"/>
              </a:lnSpc>
            </a:pPr>
            <a:r>
              <a:rPr b="0" lang="en-US" sz="1500" spc="-1" strike="noStrike">
                <a:solidFill>
                  <a:srgbClr val="a9c1d6"/>
                </a:solidFill>
                <a:latin typeface="Calibri"/>
              </a:rPr>
              <a:t>{subtitle}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Accent"/>
          <p:cNvSpPr/>
          <p:nvPr/>
        </p:nvSpPr>
        <p:spPr>
          <a:xfrm>
            <a:off x="648000" y="3654000"/>
            <a:ext cx="936000" cy="50400"/>
          </a:xfrm>
          <a:prstGeom prst="rect">
            <a:avLst/>
          </a:prstGeom>
          <a:solidFill>
            <a:srgbClr val="c89b3c"/>
          </a:solidFill>
          <a:ln w="0">
            <a:noFill/>
          </a:ln>
        </p:spPr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Meta"/>
          <p:cNvSpPr txBox="1"/>
          <p:nvPr/>
        </p:nvSpPr>
        <p:spPr>
          <a:xfrm>
            <a:off x="648000" y="3816000"/>
            <a:ext cx="846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7e9cb8"/>
                </a:solidFill>
                <a:latin typeface="Calibri"/>
              </a:rPr>
              <a:t>{date|date:MMMM YYYY} · {presenter}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Company"/>
          <p:cNvSpPr txBox="1"/>
          <p:nvPr/>
        </p:nvSpPr>
        <p:spPr>
          <a:xfrm>
            <a:off x="648000" y="4896000"/>
            <a:ext cx="846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f7f9c"/>
                </a:solidFill>
                <a:latin typeface="Calibri"/>
              </a:rPr>
              <a:t>{company} · {confidentiality}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"/>
          <p:cNvSpPr txBox="1"/>
          <p:nvPr/>
        </p:nvSpPr>
        <p:spPr>
          <a:xfrm>
            <a:off x="648000" y="396000"/>
            <a:ext cx="8460000" cy="23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253" strike="noStrike" cap="all">
                <a:solidFill>
                  <a:srgbClr val="7c93a8"/>
                </a:solidFill>
                <a:latin typeface="Calibri"/>
              </a:rPr>
              <a:t>{deck_kicker}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Heading"/>
          <p:cNvSpPr txBox="1"/>
          <p:nvPr/>
        </p:nvSpPr>
        <p:spPr>
          <a:xfrm>
            <a:off x="648000" y="594000"/>
            <a:ext cx="846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0" spc="-1" strike="noStrike">
                <a:solidFill>
                  <a:srgbClr val="12395b"/>
                </a:solidFill>
                <a:latin typeface="Cambria"/>
              </a:rPr>
              <a:t>{table_title}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Scorecard table"/>
          <p:cNvGraphicFramePr/>
          <p:nvPr/>
        </p:nvGraphicFramePr>
        <p:xfrm>
          <a:off x="648000" y="1134000"/>
          <a:ext cx="8784000" cy="2736000"/>
        </p:xfrm>
        <a:graphic>
          <a:graphicData uri="http://schemas.openxmlformats.org/drawingml/2006/table">
            <a:tbl>
              <a:tblPr/>
              <a:tblGrid>
                <a:gridCol w="2160000"/>
                <a:gridCol w="2232000"/>
                <a:gridCol w="1800000"/>
                <a:gridCol w="1440000"/>
                <a:gridCol w="1152000"/>
              </a:tblGrid>
              <a:tr h="342000"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Regional lead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vs {prior_period}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95B"/>
                    </a:solidFill>
                  </a:tcPr>
                </a:tc>
              </a:tr>
              <a:tr h="342000"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1b2a38"/>
                          </a:solidFill>
                          <a:latin typeface="Calibri"/>
                        </a:rPr>
                        <a:t>{#regions}{name}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5b6b7a"/>
                          </a:solidFill>
                          <a:latin typeface="Calibri"/>
                        </a:rPr>
                        <a:t>{lead}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1b2a38"/>
                          </a:solidFill>
                          <a:latin typeface="Calibri"/>
                        </a:rPr>
                        <a:t>{revenue|currency:EUR}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1b2a38"/>
                          </a:solidFill>
                          <a:latin typeface="Calibri"/>
                        </a:rPr>
                        <a:t>{growth|percent:1}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1b2a38"/>
                          </a:solidFill>
                          <a:latin typeface="Calibri"/>
                        </a:rPr>
                        <a:t>{units|number}{/regions}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1" lang="en-US" sz="1100" spc="-1" strike="noStrike">
                          <a:solidFill>
                            <a:srgbClr val="12395b"/>
                          </a:solidFill>
                          <a:latin typeface="Calibri"/>
                        </a:rPr>
                        <a:t>All regions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2395B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1" lang="en-US" sz="1100" spc="-1" strike="noStrike">
                          <a:solidFill>
                            <a:srgbClr val="12395b"/>
                          </a:solidFill>
                          <a:latin typeface="Calibri"/>
                        </a:rPr>
                        <a:t>{regions|count} regions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2395B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1100" spc="-1" strike="noStrike">
                          <a:solidFill>
                            <a:srgbClr val="12395b"/>
                          </a:solidFill>
                          <a:latin typeface="Calibri"/>
                        </a:rPr>
                        <a:t>{regions|sum:revenue|currency:EUR}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2395B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1100" spc="-1" strike="noStrike">
                          <a:solidFill>
                            <a:srgbClr val="12395b"/>
                          </a:solidFill>
                          <a:latin typeface="Calibri"/>
                        </a:rPr>
                        <a:t>{group_growth|percent:1}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2395B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r"/>
                      <a:r>
                        <a:rPr b="1" lang="en-US" sz="1100" spc="-1" strike="noStrike">
                          <a:solidFill>
                            <a:srgbClr val="12395b"/>
                          </a:solidFill>
                          <a:latin typeface="Calibri"/>
                        </a:rPr>
                        <a:t>{regions|sum:units|number}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2395B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7" name="Tablenote"/>
          <p:cNvSpPr txBox="1"/>
          <p:nvPr/>
        </p:nvSpPr>
        <p:spPr>
          <a:xfrm>
            <a:off x="648000" y="3996000"/>
            <a:ext cx="846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95a4b1"/>
                </a:solidFill>
                <a:latin typeface="Calibri"/>
              </a:rPr>
              <a:t>{table_note}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Footer left"/>
          <p:cNvSpPr txBox="1"/>
          <p:nvPr/>
        </p:nvSpPr>
        <p:spPr>
          <a:xfrm>
            <a:off x="648000" y="5058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95a4b1"/>
                </a:solidFill>
                <a:latin typeface="Calibri"/>
              </a:rPr>
              <a:t>{company} · {deck_period}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Footer right"/>
          <p:cNvSpPr txBox="1"/>
          <p:nvPr/>
        </p:nvSpPr>
        <p:spPr>
          <a:xfrm>
            <a:off x="4752000" y="5058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850" spc="-1" strike="noStrike">
                <a:solidFill>
                  <a:srgbClr val="95a4b1"/>
                </a:solidFill>
                <a:latin typeface="Calibri"/>
              </a:rPr>
              <a:t>{regions|count} regions · {prior_period} comparatives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oop open"/>
          <p:cNvSpPr txBox="1"/>
          <p:nvPr/>
        </p:nvSpPr>
        <p:spPr>
          <a:xfrm>
            <a:off x="108000" y="54000"/>
            <a:ext cx="14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c9d4df"/>
                </a:solidFill>
                <a:latin typeface="Calibri"/>
              </a:rPr>
              <a:t>{#regions}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Eyebrow"/>
          <p:cNvSpPr txBox="1"/>
          <p:nvPr/>
        </p:nvSpPr>
        <p:spPr>
          <a:xfrm>
            <a:off x="648000" y="396000"/>
            <a:ext cx="8460000" cy="23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253" strike="noStrike" cap="all">
                <a:solidFill>
                  <a:srgbClr val="7c93a8"/>
                </a:solidFill>
                <a:latin typeface="Calibri"/>
              </a:rPr>
              <a:t>Regional review · {../deck_period}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Heading"/>
          <p:cNvSpPr txBox="1"/>
          <p:nvPr/>
        </p:nvSpPr>
        <p:spPr>
          <a:xfrm>
            <a:off x="648000" y="594000"/>
            <a:ext cx="846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0" spc="-1" strike="noStrike">
                <a:solidFill>
                  <a:srgbClr val="12395b"/>
                </a:solidFill>
                <a:latin typeface="Cambria"/>
              </a:rPr>
              <a:t>{name}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Lead"/>
          <p:cNvSpPr txBox="1"/>
          <p:nvPr/>
        </p:nvSpPr>
        <p:spPr>
          <a:xfrm>
            <a:off x="648000" y="1080000"/>
            <a:ext cx="84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6b7b8b"/>
                </a:solidFill>
                <a:latin typeface="Calibri"/>
              </a:rPr>
              <a:t>Regional lead {lead} · {team_size} people · {accounts} active accounts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ile revenue"/>
          <p:cNvSpPr txBox="1"/>
          <p:nvPr/>
        </p:nvSpPr>
        <p:spPr>
          <a:xfrm>
            <a:off x="648000" y="1440000"/>
            <a:ext cx="2808000" cy="100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216000" rIns="216000" tIns="180000" bIns="144000" anchor="t">
            <a:noAutofit/>
          </a:bodyPr>
          <a:p>
            <a:r>
              <a:rPr b="1" lang="en-US" sz="850" spc="197" strike="noStrike" cap="all">
                <a:solidFill>
                  <a:srgbClr val="7c93a8"/>
                </a:solidFill>
                <a:latin typeface="Calibri"/>
              </a:rPr>
              <a:t>Revenue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12395b"/>
                </a:solidFill>
                <a:latin typeface="Cambria"/>
              </a:rPr>
              <a:t>{revenue|currency:EUR}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50" spc="-1" strike="noStrike">
                <a:solidFill>
                  <a:srgbClr val="7c8b99"/>
                </a:solidFill>
                <a:latin typeface="Calibri"/>
              </a:rPr>
              <a:t>{../prior_period}: {prior|currency:EUR}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ile growth"/>
          <p:cNvSpPr txBox="1"/>
          <p:nvPr/>
        </p:nvSpPr>
        <p:spPr>
          <a:xfrm>
            <a:off x="3636000" y="1440000"/>
            <a:ext cx="2808000" cy="100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216000" rIns="216000" tIns="180000" bIns="144000" anchor="t">
            <a:noAutofit/>
          </a:bodyPr>
          <a:p>
            <a:r>
              <a:rPr b="1" lang="en-US" sz="850" spc="197" strike="noStrike" cap="all">
                <a:solidFill>
                  <a:srgbClr val="7c93a8"/>
                </a:solidFill>
                <a:latin typeface="Calibri"/>
              </a:rPr>
              <a:t>Growth year on year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12395b"/>
                </a:solidFill>
                <a:latin typeface="Cambria"/>
              </a:rPr>
              <a:t>{growth|percent:1}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50" spc="-1" strike="noStrike">
                <a:solidFill>
                  <a:srgbClr val="7c8b99"/>
                </a:solidFill>
                <a:latin typeface="Calibri"/>
              </a:rPr>
              <a:t>Group average {../group_growth|percent:1}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ile units"/>
          <p:cNvSpPr txBox="1"/>
          <p:nvPr/>
        </p:nvSpPr>
        <p:spPr>
          <a:xfrm>
            <a:off x="6624000" y="1440000"/>
            <a:ext cx="2808000" cy="1008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216000" rIns="216000" tIns="180000" bIns="144000" anchor="t">
            <a:noAutofit/>
          </a:bodyPr>
          <a:p>
            <a:r>
              <a:rPr b="1" lang="en-US" sz="850" spc="197" strike="noStrike" cap="all">
                <a:solidFill>
                  <a:srgbClr val="7c93a8"/>
                </a:solidFill>
                <a:latin typeface="Calibri"/>
              </a:rPr>
              <a:t>Units shipped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12395b"/>
                </a:solidFill>
                <a:latin typeface="Cambria"/>
              </a:rPr>
              <a:t>{units|number}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50" spc="-1" strike="noStrike">
                <a:solidFill>
                  <a:srgbClr val="7c8b99"/>
                </a:solidFill>
                <a:latin typeface="Calibri"/>
              </a:rPr>
              <a:t>{share|percent:1} of group revenue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Highlights label"/>
          <p:cNvSpPr txBox="1"/>
          <p:nvPr/>
        </p:nvSpPr>
        <p:spPr>
          <a:xfrm>
            <a:off x="648000" y="2628000"/>
            <a:ext cx="84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197" strike="noStrike" cap="all">
                <a:solidFill>
                  <a:srgbClr val="12395b"/>
                </a:solidFill>
                <a:latin typeface="Calibri"/>
              </a:rPr>
              <a:t>What moved the quarter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Highlights"/>
          <p:cNvSpPr txBox="1"/>
          <p:nvPr/>
        </p:nvSpPr>
        <p:spPr>
          <a:xfrm>
            <a:off x="648000" y="2844000"/>
            <a:ext cx="8784000" cy="13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{#highlights}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52000" indent="-252000">
              <a:lnSpc>
                <a:spcPct val="126000"/>
              </a:lnSpc>
              <a:spcAft>
                <a:spcPts val="907"/>
              </a:spcAft>
              <a:tabLst>
                <a:tab algn="l" pos="252000"/>
              </a:tabLst>
            </a:pPr>
            <a:r>
              <a:rPr b="0" lang="en-US" sz="1150" spc="-1" strike="noStrike">
                <a:solidFill>
                  <a:srgbClr val="31424f"/>
                </a:solidFill>
                <a:latin typeface="Calibri"/>
              </a:rPr>
              <a:t>•</a:t>
            </a:r>
            <a:r>
              <a:rPr b="0" lang="en-US" sz="1150" spc="-1" strike="noStrike">
                <a:solidFill>
                  <a:srgbClr val="31424f"/>
                </a:solidFill>
                <a:latin typeface="Calibri"/>
              </a:rPr>
              <a:t>	</a:t>
            </a:r>
            <a:r>
              <a:rPr b="0" lang="en-US" sz="1150" spc="-1" strike="noStrike">
                <a:solidFill>
                  <a:srgbClr val="31424f"/>
                </a:solidFill>
                <a:latin typeface="Calibri"/>
              </a:rPr>
              <a:t>{.}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{/highlights}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Watch"/>
          <p:cNvSpPr txBox="1"/>
          <p:nvPr/>
        </p:nvSpPr>
        <p:spPr>
          <a:xfrm>
            <a:off x="648000" y="4266000"/>
            <a:ext cx="8784000" cy="540000"/>
          </a:xfrm>
          <a:prstGeom prst="rect">
            <a:avLst/>
          </a:prstGeom>
          <a:solidFill>
            <a:srgbClr val="fdf4ec"/>
          </a:solidFill>
          <a:ln w="0">
            <a:noFill/>
          </a:ln>
        </p:spPr>
        <p:txBody>
          <a:bodyPr lIns="216000" rIns="216000" tIns="151200" bIns="151200" anchor="ctr">
            <a:noAutofit/>
          </a:bodyPr>
          <a:p>
            <a:r>
              <a:rPr b="0" lang="en-US" sz="1050" spc="-1" strike="noStrike">
                <a:solidFill>
                  <a:srgbClr val="7a4a24"/>
                </a:solidFill>
                <a:latin typeface="Calibri"/>
              </a:rPr>
              <a:t>Watch item — {risk}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ooter left"/>
          <p:cNvSpPr txBox="1"/>
          <p:nvPr/>
        </p:nvSpPr>
        <p:spPr>
          <a:xfrm>
            <a:off x="648000" y="5058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95a4b1"/>
                </a:solidFill>
                <a:latin typeface="Calibri"/>
              </a:rPr>
              <a:t>{../company} · {../deck_period}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Footer right"/>
          <p:cNvSpPr txBox="1"/>
          <p:nvPr/>
        </p:nvSpPr>
        <p:spPr>
          <a:xfrm>
            <a:off x="4752000" y="5058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850" spc="-1" strike="noStrike">
                <a:solidFill>
                  <a:srgbClr val="95a4b1"/>
                </a:solidFill>
                <a:latin typeface="Calibri"/>
              </a:rPr>
              <a:t>Region {$index1} of {$length}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Loop close"/>
          <p:cNvSpPr txBox="1"/>
          <p:nvPr/>
        </p:nvSpPr>
        <p:spPr>
          <a:xfrm>
            <a:off x="108000" y="5382000"/>
            <a:ext cx="14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c9d4df"/>
                </a:solidFill>
                <a:latin typeface="Calibri"/>
              </a:rPr>
              <a:t>{/regions}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Eyebrow"/>
          <p:cNvSpPr txBox="1"/>
          <p:nvPr/>
        </p:nvSpPr>
        <p:spPr>
          <a:xfrm>
            <a:off x="648000" y="540000"/>
            <a:ext cx="8460000" cy="23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253" strike="noStrike" cap="all">
                <a:solidFill>
                  <a:srgbClr val="7c93a8"/>
                </a:solidFill>
                <a:latin typeface="Calibri"/>
              </a:rPr>
              <a:t>{deck_kicker}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Heading"/>
          <p:cNvSpPr txBox="1"/>
          <p:nvPr/>
        </p:nvSpPr>
        <p:spPr>
          <a:xfrm>
            <a:off x="648000" y="738000"/>
            <a:ext cx="84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Cambria"/>
              </a:rPr>
              <a:t>{closing_title}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Accent"/>
          <p:cNvSpPr/>
          <p:nvPr/>
        </p:nvSpPr>
        <p:spPr>
          <a:xfrm>
            <a:off x="648000" y="1422000"/>
            <a:ext cx="936000" cy="50400"/>
          </a:xfrm>
          <a:prstGeom prst="rect">
            <a:avLst/>
          </a:prstGeom>
          <a:solidFill>
            <a:srgbClr val="c89b3c"/>
          </a:solidFill>
          <a:ln w="0">
            <a:noFill/>
          </a:ln>
        </p:spPr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riorities"/>
          <p:cNvSpPr txBox="1"/>
          <p:nvPr/>
        </p:nvSpPr>
        <p:spPr>
          <a:xfrm>
            <a:off x="648000" y="1674000"/>
            <a:ext cx="8784000" cy="27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{#priorities}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88000" indent="-288000">
              <a:lnSpc>
                <a:spcPct val="126000"/>
              </a:lnSpc>
              <a:spcAft>
                <a:spcPts val="1134"/>
              </a:spcAft>
              <a:tabLst>
                <a:tab algn="l" pos="288000"/>
              </a:tabLst>
            </a:pPr>
            <a:r>
              <a:rPr b="0" lang="en-US" sz="1300" spc="-1" strike="noStrike">
                <a:solidFill>
                  <a:srgbClr val="dbe6ef"/>
                </a:solidFill>
                <a:latin typeface="Calibri"/>
              </a:rPr>
              <a:t>•</a:t>
            </a:r>
            <a:r>
              <a:rPr b="0" lang="en-US" sz="1300" spc="-1" strike="noStrike">
                <a:solidFill>
                  <a:srgbClr val="dbe6ef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rgbClr val="dbe6ef"/>
                </a:solidFill>
                <a:latin typeface="Calibri"/>
              </a:rPr>
              <a:t>{.}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{/priorities}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Footer"/>
          <p:cNvSpPr txBox="1"/>
          <p:nvPr/>
        </p:nvSpPr>
        <p:spPr>
          <a:xfrm>
            <a:off x="648000" y="4788000"/>
            <a:ext cx="846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f7f9c"/>
                </a:solidFill>
                <a:latin typeface="Calibri"/>
              </a:rPr>
              <a:t>{company} · {presenter} · {date|date:DD MMMM YYYY}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